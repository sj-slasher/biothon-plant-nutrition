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Fraunces Extra Bold" panose="020B0604020202020204" charset="0"/>
      <p:regular r:id="rId9"/>
    </p:embeddedFont>
    <p:embeddedFont>
      <p:font typeface="Nobil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675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2883"/>
            <a:ext cx="90038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Gap in Soil Intelligence in Nepal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7979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Farmers in Nepal lack fast, affordable, and actionable soil insights. As a result, decisions are made with a yield-first mindset rather than optimizing for crop nutrition and long‑term soil health.   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38118"/>
            <a:ext cx="891540" cy="8915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33337" y="3038118"/>
            <a:ext cx="19351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Slow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933337" y="3467338"/>
            <a:ext cx="193512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Lab turnaround creates delays between sampling and action — decisions happen too late in the season.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467" y="3038118"/>
            <a:ext cx="891540" cy="8915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6014" y="3038118"/>
            <a:ext cx="19351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Expensive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56014" y="3467338"/>
            <a:ext cx="193512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Typical soil analysis costs ~Rs. 2000, a major barrier for smallholders and repeated testing.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144" y="3038118"/>
            <a:ext cx="891540" cy="8915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78691" y="3038118"/>
            <a:ext cx="19351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Limited Access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8578691" y="3467338"/>
            <a:ext cx="193512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Rural communities have few nearby labs and weak logistics for sample transport.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1821" y="3038118"/>
            <a:ext cx="891659" cy="8916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01488" y="3038118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Yield-focused Decisions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1901488" y="3777496"/>
            <a:ext cx="193512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Without nutrient-focused guidance, management prioritizes short-term yield instead of crop nutrition or soil recovery.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793790" y="6223516"/>
            <a:ext cx="13042821" cy="843201"/>
          </a:xfrm>
          <a:prstGeom prst="roundRect">
            <a:avLst>
              <a:gd name="adj" fmla="val 2118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48" y="6511171"/>
            <a:ext cx="248007" cy="19835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38513" y="6471404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Idea line: Farmers lack fast, affordable, and actionable soil insights.</a:t>
            </a:r>
            <a:endParaRPr lang="en-US" sz="15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984BA77-55E7-760F-9A0B-32116AC8E6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53480" y="7400809"/>
            <a:ext cx="2953162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483870"/>
            <a:ext cx="8084582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Mato: Smart Soil Intelligence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4611" y="1330404"/>
            <a:ext cx="13241179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NutriMap converts measured soil parameters into instant, nutrient-focused recommendations. It is designed as an accessible, low-cost tool for Nepali farmers and a scalable analytics platform for agribusinesses and government programs.   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11" y="2022277"/>
            <a:ext cx="2486501" cy="31081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611" y="532030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Inputs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94611" y="5682615"/>
            <a:ext cx="4287083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pH, N–P–K levels, soil moisture, and temperature (from sensors or simple field tests).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599" y="2022277"/>
            <a:ext cx="2486501" cy="31081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71599" y="532030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171599" y="5682615"/>
            <a:ext cx="4287083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Rule-based engine maps measures ranges and nutritional recommendations using established standards.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8587" y="2022277"/>
            <a:ext cx="2486501" cy="31081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8587" y="532030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Outputs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9648587" y="5682615"/>
            <a:ext cx="4287203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Instant crop suggestions, nutrient-focused advice, and field-level guidance deliverable via app, SMS.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94611" y="6634996"/>
            <a:ext cx="13241179" cy="679252"/>
          </a:xfrm>
          <a:prstGeom prst="roundRect">
            <a:avLst>
              <a:gd name="adj" fmla="val 23010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04" y="6875264"/>
            <a:ext cx="217051" cy="1735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58848" y="6830258"/>
            <a:ext cx="1250334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Idea line: We convert soil data into instant, nutrient-focused decisions.   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94611" y="7485102"/>
            <a:ext cx="13241179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7F2D51-1200-5E39-B6D8-8609029EB7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77238" y="7400809"/>
            <a:ext cx="2953162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701" y="568762"/>
            <a:ext cx="5318879" cy="7091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846" y="503873"/>
            <a:ext cx="4186476" cy="52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 Workflow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9846" y="1239083"/>
            <a:ext cx="7804309" cy="988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Mato follows a clear, auditable workflow: collect soil readings (simulated or real), process with agricultural rules, generate recommendations, and present results on a dashboard or lightweight farmer channels. Simulation uses bounded, scientifically valid ranges so prototype outputs remain realistic and defensible.   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46" y="2386251"/>
            <a:ext cx="7804309" cy="41336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50409" y="5340533"/>
            <a:ext cx="1929590" cy="241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Soil Measurement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613193" y="5650340"/>
            <a:ext cx="2066805" cy="355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Collect simulated or field soil readings.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95725" y="2722053"/>
            <a:ext cx="1929590" cy="241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Validation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8509" y="3031859"/>
            <a:ext cx="2066805" cy="53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 and normalize measurements for consistency.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9525" y="2658671"/>
            <a:ext cx="2066805" cy="482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Recommendation Engine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9525" y="3209676"/>
            <a:ext cx="2066805" cy="355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Apply agricultural rules to generate advisories.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18481" y="5340668"/>
            <a:ext cx="1929590" cy="24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Dashboard Output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18481" y="5650474"/>
            <a:ext cx="2066805" cy="355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 results to farmers via dashboard channels.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9846" y="6678811"/>
            <a:ext cx="780430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69846" y="7084814"/>
            <a:ext cx="7804309" cy="640913"/>
          </a:xfrm>
          <a:prstGeom prst="roundRect">
            <a:avLst>
              <a:gd name="adj" fmla="val 23516"/>
            </a:avLst>
          </a:prstGeom>
          <a:solidFill>
            <a:srgbClr val="CCE6D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48" y="7315081"/>
            <a:ext cx="209312" cy="167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13961" y="7267813"/>
            <a:ext cx="7092791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This is a data-driven system built on agricultural logic; simulation ≠ randomness.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5013"/>
            <a:ext cx="121084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From Data to Decision — Example &amp; Comparison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71926"/>
            <a:ext cx="919996" cy="568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793" y="20719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Example Input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61793" y="2501146"/>
            <a:ext cx="301418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 5.5, low nitrogen detected — quick assessment flags acidity and N deficiency.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2071926"/>
            <a:ext cx="919996" cy="5685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91989" y="20719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Suggested Action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391989" y="2501146"/>
            <a:ext cx="301430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 millet or other iron‑rich, low‑input cereals; targeted N amendment timing; liming options for acidity.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2071926"/>
            <a:ext cx="919996" cy="5685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22305" y="20719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Impact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822305" y="2501146"/>
            <a:ext cx="301430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Shifts decision time from days to seconds and focuses management on nutrition as well as yield.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793790" y="3994547"/>
            <a:ext cx="13042821" cy="2639258"/>
          </a:xfrm>
          <a:prstGeom prst="roundRect">
            <a:avLst>
              <a:gd name="adj" fmla="val 676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000006" y="4128849"/>
            <a:ext cx="389846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Metric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302806" y="4128849"/>
            <a:ext cx="38946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Traditional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9601795" y="4128849"/>
            <a:ext cx="40288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NutriMap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000006" y="4707374"/>
            <a:ext cx="389846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Turnaround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5302806" y="4707374"/>
            <a:ext cx="38946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3–7 days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601795" y="4707374"/>
            <a:ext cx="40288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Instant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000006" y="5285899"/>
            <a:ext cx="389846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 (approx)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5302806" y="5285899"/>
            <a:ext cx="38946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~Rs. 2000 per test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9601795" y="5285899"/>
            <a:ext cx="402883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~Rs. 100 (estimated channel cost) / free app tier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000006" y="6181963"/>
            <a:ext cx="389846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5302806" y="6181963"/>
            <a:ext cx="38946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Raw lab values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9601795" y="6181963"/>
            <a:ext cx="40288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Actionable, crop‑specific advice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793790" y="685704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0666B9E-F820-7775-8B08-FE37E43666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6213" y="7381768"/>
            <a:ext cx="2953162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988" y="581144"/>
            <a:ext cx="5300305" cy="7067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4260" y="575429"/>
            <a:ext cx="7655481" cy="1162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Sustainable Business Model &amp; Scalability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44260" y="1999774"/>
            <a:ext cx="7655481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NutriMap is built to be economically sustainable and rapidly scalable across Nepal. 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44260" y="2484358"/>
            <a:ext cx="2435543" cy="2211348"/>
          </a:xfrm>
          <a:prstGeom prst="roundRect">
            <a:avLst>
              <a:gd name="adj" fmla="val 757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30235" y="2670334"/>
            <a:ext cx="206359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Freemium for Farmers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0235" y="3356253"/>
            <a:ext cx="2063591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Free basic app and SMS advisories ensure high adoption among smallholders.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354229" y="2484358"/>
            <a:ext cx="2435543" cy="2211348"/>
          </a:xfrm>
          <a:prstGeom prst="roundRect">
            <a:avLst>
              <a:gd name="adj" fmla="val 757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40204" y="2670334"/>
            <a:ext cx="2063591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Subsidies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40204" y="3065621"/>
            <a:ext cx="2063591" cy="144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Government taking our product in full fledge and providing it to farmer in lower cost.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964198" y="2484358"/>
            <a:ext cx="2435543" cy="2211348"/>
          </a:xfrm>
          <a:prstGeom prst="roundRect">
            <a:avLst>
              <a:gd name="adj" fmla="val 757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50173" y="2670334"/>
            <a:ext cx="2063591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Partnerships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150173" y="3065621"/>
            <a:ext cx="2063591" cy="144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Public‑private partnerships for subsidized sensor rollouts and collective sampling programs.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44260" y="4870133"/>
            <a:ext cx="7655481" cy="1343978"/>
          </a:xfrm>
          <a:prstGeom prst="roundRect">
            <a:avLst>
              <a:gd name="adj" fmla="val 1246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30235" y="5056108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Scale Ready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30235" y="5451396"/>
            <a:ext cx="7283529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Designed to accept real IoT sensor streams, expand datasets, and localize recommendations by agro-ecological zone.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44260" y="6410325"/>
            <a:ext cx="7655481" cy="759143"/>
          </a:xfrm>
          <a:prstGeom prst="roundRect">
            <a:avLst>
              <a:gd name="adj" fmla="val 22060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35" y="6670477"/>
            <a:ext cx="232529" cy="18597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48740" y="6631186"/>
            <a:ext cx="686502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Idea line: Low-cost today, scalable for tomorrow.   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744260" y="7365683"/>
            <a:ext cx="7655481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6032"/>
            <a:ext cx="826139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Impact, Limitations &amp; Next Steps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1652945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397085"/>
            <a:ext cx="33007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Impact — Faster Decisions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2826306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Quicker advisories enable timely fertilizer application and crop choice aligned with nutrition goals.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1652945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9144" y="2397085"/>
            <a:ext cx="26396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Impact — Lower Cost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439144" y="2826306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Reduced per-test cost and free basic advisories increase repeat testing and better management.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858220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4602361"/>
            <a:ext cx="32650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Impact — Better Nutrition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93790" y="5031581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Recommendations emphasize nutrient-dense crop choices and targeted soil amendments.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3858220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9144" y="4602361"/>
            <a:ext cx="36874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Limitation — Prototype Stage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439144" y="5031581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Current outputs use simulated data ranges and require on‑farm validation before widescale deployment.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93790" y="588990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Next steps: conduct field validation pilots in representative Nepali agro-ecological zones, integrate low-cost NPK/pH sensors, refine rule sets with agronomic partners, and formalize government collaboration for scale.   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793790" y="6797754"/>
            <a:ext cx="13042821" cy="14883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793790" y="7085409"/>
            <a:ext cx="130428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References: Nepal agricultural soil testing cost reports; FAO soil nutrient standards; sensor specifications for NPK/pH probes; research on biofortification and nutritious crops (millet, buckwheat).   </a:t>
            </a:r>
            <a:endParaRPr lang="en-US" sz="12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22D8387-3CF8-1F82-9771-0B81EFEF6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77238" y="7400809"/>
            <a:ext cx="2953162" cy="8287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699</Words>
  <Application>Microsoft Office PowerPoint</Application>
  <PresentationFormat>Custom</PresentationFormat>
  <Paragraphs>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Fraunces Extra Bold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Pratyush Neupane</cp:lastModifiedBy>
  <cp:revision>2</cp:revision>
  <dcterms:created xsi:type="dcterms:W3CDTF">2026-04-26T19:29:46Z</dcterms:created>
  <dcterms:modified xsi:type="dcterms:W3CDTF">2026-04-27T01:37:18Z</dcterms:modified>
</cp:coreProperties>
</file>